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12192000" cy="6858000"/>
  <p:embeddedFontLs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104F25-3B5F-464F-AA89-1FCFC8B70155}">
  <a:tblStyle styleId="{08104F25-3B5F-464F-AA89-1FCFC8B7015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OpenSans-regular.fntdata"/><Relationship Id="rId14" Type="http://schemas.openxmlformats.org/officeDocument/2006/relationships/slide" Target="slides/slide8.xml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e1a5d6fd_4_1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ae1a5d6fd_4_13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e2855213_0_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ae2855213_0_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e1a5d6fd_4_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ae1a5d6fd_4_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621929" y="218566"/>
            <a:ext cx="69481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735947" y="2544828"/>
            <a:ext cx="9184005" cy="1732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621929" y="218566"/>
            <a:ext cx="69481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2621929" y="218566"/>
            <a:ext cx="69481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77762"/>
            <a:ext cx="12191999" cy="4802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6354762"/>
            <a:ext cx="12192000" cy="503555"/>
          </a:xfrm>
          <a:custGeom>
            <a:rect b="b" l="l" r="r" t="t"/>
            <a:pathLst>
              <a:path extrusionOk="0" h="503554" w="12192000">
                <a:moveTo>
                  <a:pt x="12191999" y="503237"/>
                </a:moveTo>
                <a:lnTo>
                  <a:pt x="0" y="503237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50323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621929" y="218566"/>
            <a:ext cx="69481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735947" y="2544828"/>
            <a:ext cx="9184005" cy="1732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11" Type="http://schemas.openxmlformats.org/officeDocument/2006/relationships/image" Target="../media/image3.png"/><Relationship Id="rId10" Type="http://schemas.openxmlformats.org/officeDocument/2006/relationships/image" Target="../media/image13.png"/><Relationship Id="rId13" Type="http://schemas.openxmlformats.org/officeDocument/2006/relationships/image" Target="../media/image15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18.png"/><Relationship Id="rId16" Type="http://schemas.openxmlformats.org/officeDocument/2006/relationships/image" Target="../media/image7.png"/><Relationship Id="rId5" Type="http://schemas.openxmlformats.org/officeDocument/2006/relationships/image" Target="../media/image17.png"/><Relationship Id="rId19" Type="http://schemas.openxmlformats.org/officeDocument/2006/relationships/image" Target="../media/image20.png"/><Relationship Id="rId6" Type="http://schemas.openxmlformats.org/officeDocument/2006/relationships/image" Target="../media/image14.png"/><Relationship Id="rId18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11" Type="http://schemas.openxmlformats.org/officeDocument/2006/relationships/image" Target="../media/image39.png"/><Relationship Id="rId22" Type="http://schemas.openxmlformats.org/officeDocument/2006/relationships/image" Target="../media/image40.png"/><Relationship Id="rId10" Type="http://schemas.openxmlformats.org/officeDocument/2006/relationships/image" Target="../media/image27.png"/><Relationship Id="rId21" Type="http://schemas.openxmlformats.org/officeDocument/2006/relationships/image" Target="../media/image33.png"/><Relationship Id="rId13" Type="http://schemas.openxmlformats.org/officeDocument/2006/relationships/image" Target="../media/image25.png"/><Relationship Id="rId24" Type="http://schemas.openxmlformats.org/officeDocument/2006/relationships/image" Target="../media/image5.png"/><Relationship Id="rId12" Type="http://schemas.openxmlformats.org/officeDocument/2006/relationships/image" Target="../media/image24.png"/><Relationship Id="rId23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Relationship Id="rId9" Type="http://schemas.openxmlformats.org/officeDocument/2006/relationships/image" Target="../media/image43.png"/><Relationship Id="rId15" Type="http://schemas.openxmlformats.org/officeDocument/2006/relationships/image" Target="../media/image28.png"/><Relationship Id="rId14" Type="http://schemas.openxmlformats.org/officeDocument/2006/relationships/image" Target="../media/image30.png"/><Relationship Id="rId17" Type="http://schemas.openxmlformats.org/officeDocument/2006/relationships/image" Target="../media/image31.png"/><Relationship Id="rId16" Type="http://schemas.openxmlformats.org/officeDocument/2006/relationships/image" Target="../media/image38.png"/><Relationship Id="rId5" Type="http://schemas.openxmlformats.org/officeDocument/2006/relationships/image" Target="../media/image26.png"/><Relationship Id="rId19" Type="http://schemas.openxmlformats.org/officeDocument/2006/relationships/image" Target="../media/image29.png"/><Relationship Id="rId6" Type="http://schemas.openxmlformats.org/officeDocument/2006/relationships/image" Target="../media/image22.png"/><Relationship Id="rId18" Type="http://schemas.openxmlformats.org/officeDocument/2006/relationships/image" Target="../media/image34.png"/><Relationship Id="rId7" Type="http://schemas.openxmlformats.org/officeDocument/2006/relationships/image" Target="../media/image16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6.jp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www.isro.gov.in/ISRO_EN/Landslide_Atlas_India.html?utm_source=chatgpt.com" TargetMode="External"/><Relationship Id="rId9" Type="http://schemas.openxmlformats.org/officeDocument/2006/relationships/image" Target="../media/image5.png"/><Relationship Id="rId5" Type="http://schemas.openxmlformats.org/officeDocument/2006/relationships/hyperlink" Target="https://www.nrsc.gov.in/sites/default/files/pdf/DMSP/Flood_Hazard_Zonation_Atlas_of_Assam_using_multi_sensor_satellite_data1998_2023.pdf?utm_source=chatgpt.com" TargetMode="External"/><Relationship Id="rId6" Type="http://schemas.openxmlformats.org/officeDocument/2006/relationships/hyperlink" Target="https://wseas.com/journals/articles.php?id=10519&amp;utm_source=chatgpt.com" TargetMode="External"/><Relationship Id="rId7" Type="http://schemas.openxmlformats.org/officeDocument/2006/relationships/hyperlink" Target="https://link.springer.com/chapter/10.1007/978-3-031-18471-0_21?utm_source=chatgpt.com" TargetMode="External"/><Relationship Id="rId8" Type="http://schemas.openxmlformats.org/officeDocument/2006/relationships/hyperlink" Target="https://bhusanket.gsi.gov.in/?utm_source=chatgpt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8"/>
          <p:cNvGrpSpPr/>
          <p:nvPr/>
        </p:nvGrpSpPr>
        <p:grpSpPr>
          <a:xfrm>
            <a:off x="5656780" y="851520"/>
            <a:ext cx="4638675" cy="5155565"/>
            <a:chOff x="5656780" y="851520"/>
            <a:chExt cx="4638675" cy="5155565"/>
          </a:xfrm>
        </p:grpSpPr>
        <p:sp>
          <p:nvSpPr>
            <p:cNvPr id="50" name="Google Shape;50;p8"/>
            <p:cNvSpPr/>
            <p:nvPr/>
          </p:nvSpPr>
          <p:spPr>
            <a:xfrm>
              <a:off x="5656780" y="851520"/>
              <a:ext cx="4638675" cy="5155565"/>
            </a:xfrm>
            <a:custGeom>
              <a:rect b="b" l="l" r="r" t="t"/>
              <a:pathLst>
                <a:path extrusionOk="0" h="5155565" w="4638675">
                  <a:moveTo>
                    <a:pt x="3518134" y="5154966"/>
                  </a:moveTo>
                  <a:lnTo>
                    <a:pt x="1867290" y="5154966"/>
                  </a:lnTo>
                  <a:lnTo>
                    <a:pt x="1822196" y="5150410"/>
                  </a:lnTo>
                  <a:lnTo>
                    <a:pt x="1778973" y="5137070"/>
                  </a:lnTo>
                  <a:lnTo>
                    <a:pt x="1738182" y="5115445"/>
                  </a:lnTo>
                  <a:lnTo>
                    <a:pt x="1700385" y="5086032"/>
                  </a:lnTo>
                  <a:lnTo>
                    <a:pt x="1666143" y="5049328"/>
                  </a:lnTo>
                  <a:lnTo>
                    <a:pt x="1636018" y="5005830"/>
                  </a:lnTo>
                  <a:lnTo>
                    <a:pt x="1610571" y="4956034"/>
                  </a:lnTo>
                  <a:lnTo>
                    <a:pt x="786932" y="3056698"/>
                  </a:lnTo>
                  <a:lnTo>
                    <a:pt x="769382" y="3010868"/>
                  </a:lnTo>
                  <a:lnTo>
                    <a:pt x="756847" y="2962707"/>
                  </a:lnTo>
                  <a:lnTo>
                    <a:pt x="749326" y="2912992"/>
                  </a:lnTo>
                  <a:lnTo>
                    <a:pt x="746819" y="2862500"/>
                  </a:lnTo>
                  <a:lnTo>
                    <a:pt x="749326" y="2812009"/>
                  </a:lnTo>
                  <a:lnTo>
                    <a:pt x="756847" y="2762294"/>
                  </a:lnTo>
                  <a:lnTo>
                    <a:pt x="769382" y="2714133"/>
                  </a:lnTo>
                  <a:lnTo>
                    <a:pt x="786932" y="2668303"/>
                  </a:lnTo>
                  <a:lnTo>
                    <a:pt x="1118529" y="1903633"/>
                  </a:lnTo>
                  <a:lnTo>
                    <a:pt x="1117622" y="1903126"/>
                  </a:lnTo>
                  <a:lnTo>
                    <a:pt x="1081377" y="1860398"/>
                  </a:lnTo>
                  <a:lnTo>
                    <a:pt x="726239" y="1044306"/>
                  </a:lnTo>
                  <a:lnTo>
                    <a:pt x="713605" y="1004835"/>
                  </a:lnTo>
                  <a:lnTo>
                    <a:pt x="709393" y="962751"/>
                  </a:lnTo>
                  <a:lnTo>
                    <a:pt x="713605" y="920668"/>
                  </a:lnTo>
                  <a:lnTo>
                    <a:pt x="726274" y="881116"/>
                  </a:lnTo>
                  <a:lnTo>
                    <a:pt x="1072139" y="83545"/>
                  </a:lnTo>
                  <a:lnTo>
                    <a:pt x="1092143" y="48673"/>
                  </a:lnTo>
                  <a:lnTo>
                    <a:pt x="1147312" y="5781"/>
                  </a:lnTo>
                  <a:lnTo>
                    <a:pt x="1179950" y="0"/>
                  </a:lnTo>
                  <a:lnTo>
                    <a:pt x="1873246" y="0"/>
                  </a:lnTo>
                  <a:lnTo>
                    <a:pt x="1934826" y="22378"/>
                  </a:lnTo>
                  <a:lnTo>
                    <a:pt x="1979561" y="83545"/>
                  </a:lnTo>
                  <a:lnTo>
                    <a:pt x="1990752" y="109242"/>
                  </a:lnTo>
                  <a:lnTo>
                    <a:pt x="1219285" y="109242"/>
                  </a:lnTo>
                  <a:lnTo>
                    <a:pt x="1190350" y="114368"/>
                  </a:lnTo>
                  <a:lnTo>
                    <a:pt x="1141441" y="152393"/>
                  </a:lnTo>
                  <a:lnTo>
                    <a:pt x="817057" y="890449"/>
                  </a:lnTo>
                  <a:lnTo>
                    <a:pt x="802122" y="962751"/>
                  </a:lnTo>
                  <a:lnTo>
                    <a:pt x="805856" y="1000060"/>
                  </a:lnTo>
                  <a:lnTo>
                    <a:pt x="1123707" y="1742195"/>
                  </a:lnTo>
                  <a:lnTo>
                    <a:pt x="1152198" y="1785779"/>
                  </a:lnTo>
                  <a:lnTo>
                    <a:pt x="1168694" y="1799028"/>
                  </a:lnTo>
                  <a:lnTo>
                    <a:pt x="1125080" y="1899603"/>
                  </a:lnTo>
                  <a:lnTo>
                    <a:pt x="1160404" y="1914701"/>
                  </a:lnTo>
                  <a:lnTo>
                    <a:pt x="1177013" y="1916169"/>
                  </a:lnTo>
                  <a:lnTo>
                    <a:pt x="4270920" y="1916169"/>
                  </a:lnTo>
                  <a:lnTo>
                    <a:pt x="4598492" y="2668303"/>
                  </a:lnTo>
                  <a:lnTo>
                    <a:pt x="4616041" y="2714133"/>
                  </a:lnTo>
                  <a:lnTo>
                    <a:pt x="4628576" y="2762294"/>
                  </a:lnTo>
                  <a:lnTo>
                    <a:pt x="4636097" y="2812009"/>
                  </a:lnTo>
                  <a:lnTo>
                    <a:pt x="4638605" y="2862500"/>
                  </a:lnTo>
                  <a:lnTo>
                    <a:pt x="4636097" y="2912992"/>
                  </a:lnTo>
                  <a:lnTo>
                    <a:pt x="4628576" y="2962707"/>
                  </a:lnTo>
                  <a:lnTo>
                    <a:pt x="4616041" y="3010868"/>
                  </a:lnTo>
                  <a:lnTo>
                    <a:pt x="4598492" y="3056698"/>
                  </a:lnTo>
                  <a:lnTo>
                    <a:pt x="3771288" y="4956034"/>
                  </a:lnTo>
                  <a:lnTo>
                    <a:pt x="3746974" y="5005830"/>
                  </a:lnTo>
                  <a:lnTo>
                    <a:pt x="3717358" y="5049328"/>
                  </a:lnTo>
                  <a:lnTo>
                    <a:pt x="3683251" y="5086032"/>
                  </a:lnTo>
                  <a:lnTo>
                    <a:pt x="3645464" y="5115445"/>
                  </a:lnTo>
                  <a:lnTo>
                    <a:pt x="3604809" y="5137070"/>
                  </a:lnTo>
                  <a:lnTo>
                    <a:pt x="3562095" y="5150410"/>
                  </a:lnTo>
                  <a:lnTo>
                    <a:pt x="3518134" y="5154966"/>
                  </a:lnTo>
                  <a:close/>
                </a:path>
                <a:path extrusionOk="0" h="5155565" w="4638675">
                  <a:moveTo>
                    <a:pt x="2186946" y="559719"/>
                  </a:moveTo>
                  <a:lnTo>
                    <a:pt x="2092099" y="559719"/>
                  </a:lnTo>
                  <a:lnTo>
                    <a:pt x="1928163" y="183308"/>
                  </a:lnTo>
                  <a:lnTo>
                    <a:pt x="1911009" y="152393"/>
                  </a:lnTo>
                  <a:lnTo>
                    <a:pt x="1888504" y="129082"/>
                  </a:lnTo>
                  <a:lnTo>
                    <a:pt x="1862266" y="114368"/>
                  </a:lnTo>
                  <a:lnTo>
                    <a:pt x="1833912" y="109242"/>
                  </a:lnTo>
                  <a:lnTo>
                    <a:pt x="1990752" y="109242"/>
                  </a:lnTo>
                  <a:lnTo>
                    <a:pt x="2186946" y="559719"/>
                  </a:lnTo>
                  <a:close/>
                </a:path>
                <a:path extrusionOk="0" h="5155565" w="4638675">
                  <a:moveTo>
                    <a:pt x="1830974" y="1806926"/>
                  </a:moveTo>
                  <a:lnTo>
                    <a:pt x="1216348" y="1806926"/>
                  </a:lnTo>
                  <a:lnTo>
                    <a:pt x="1208930" y="1806598"/>
                  </a:lnTo>
                  <a:lnTo>
                    <a:pt x="1201624" y="1805624"/>
                  </a:lnTo>
                  <a:lnTo>
                    <a:pt x="1194445" y="1804020"/>
                  </a:lnTo>
                  <a:lnTo>
                    <a:pt x="1187413" y="1801801"/>
                  </a:lnTo>
                  <a:lnTo>
                    <a:pt x="1167512" y="1790676"/>
                  </a:lnTo>
                  <a:lnTo>
                    <a:pt x="1610571" y="768967"/>
                  </a:lnTo>
                  <a:lnTo>
                    <a:pt x="1636018" y="719172"/>
                  </a:lnTo>
                  <a:lnTo>
                    <a:pt x="1666143" y="675674"/>
                  </a:lnTo>
                  <a:lnTo>
                    <a:pt x="1700385" y="638969"/>
                  </a:lnTo>
                  <a:lnTo>
                    <a:pt x="1738182" y="609556"/>
                  </a:lnTo>
                  <a:lnTo>
                    <a:pt x="1778973" y="587931"/>
                  </a:lnTo>
                  <a:lnTo>
                    <a:pt x="1822196" y="574591"/>
                  </a:lnTo>
                  <a:lnTo>
                    <a:pt x="1867290" y="570034"/>
                  </a:lnTo>
                  <a:lnTo>
                    <a:pt x="2097718" y="570034"/>
                  </a:lnTo>
                  <a:lnTo>
                    <a:pt x="2233203" y="881116"/>
                  </a:lnTo>
                  <a:lnTo>
                    <a:pt x="2244403" y="916110"/>
                  </a:lnTo>
                  <a:lnTo>
                    <a:pt x="2248136" y="953418"/>
                  </a:lnTo>
                  <a:lnTo>
                    <a:pt x="2244403" y="990726"/>
                  </a:lnTo>
                  <a:lnTo>
                    <a:pt x="1925225" y="1732862"/>
                  </a:lnTo>
                  <a:lnTo>
                    <a:pt x="1885567" y="1787088"/>
                  </a:lnTo>
                  <a:lnTo>
                    <a:pt x="1830974" y="1806926"/>
                  </a:lnTo>
                  <a:close/>
                </a:path>
                <a:path extrusionOk="0" h="5155565" w="4638675">
                  <a:moveTo>
                    <a:pt x="4270920" y="1916169"/>
                  </a:moveTo>
                  <a:lnTo>
                    <a:pt x="1870308" y="1916169"/>
                  </a:lnTo>
                  <a:lnTo>
                    <a:pt x="1902292" y="1910389"/>
                  </a:lnTo>
                  <a:lnTo>
                    <a:pt x="1931889" y="1893792"/>
                  </a:lnTo>
                  <a:lnTo>
                    <a:pt x="1976623" y="1832626"/>
                  </a:lnTo>
                  <a:lnTo>
                    <a:pt x="2324019" y="1034973"/>
                  </a:lnTo>
                  <a:lnTo>
                    <a:pt x="2336654" y="995502"/>
                  </a:lnTo>
                  <a:lnTo>
                    <a:pt x="2340865" y="953418"/>
                  </a:lnTo>
                  <a:lnTo>
                    <a:pt x="2336654" y="911335"/>
                  </a:lnTo>
                  <a:lnTo>
                    <a:pt x="2324019" y="871862"/>
                  </a:lnTo>
                  <a:lnTo>
                    <a:pt x="2192566" y="570034"/>
                  </a:lnTo>
                  <a:lnTo>
                    <a:pt x="3518134" y="570034"/>
                  </a:lnTo>
                  <a:lnTo>
                    <a:pt x="3562095" y="574591"/>
                  </a:lnTo>
                  <a:lnTo>
                    <a:pt x="3604809" y="587931"/>
                  </a:lnTo>
                  <a:lnTo>
                    <a:pt x="3645464" y="609556"/>
                  </a:lnTo>
                  <a:lnTo>
                    <a:pt x="3683251" y="638969"/>
                  </a:lnTo>
                  <a:lnTo>
                    <a:pt x="3717358" y="675674"/>
                  </a:lnTo>
                  <a:lnTo>
                    <a:pt x="3746974" y="719172"/>
                  </a:lnTo>
                  <a:lnTo>
                    <a:pt x="3771288" y="768967"/>
                  </a:lnTo>
                  <a:lnTo>
                    <a:pt x="4270920" y="1916169"/>
                  </a:lnTo>
                  <a:close/>
                </a:path>
                <a:path extrusionOk="0" h="5155565" w="4638675">
                  <a:moveTo>
                    <a:pt x="673702" y="4239780"/>
                  </a:moveTo>
                  <a:lnTo>
                    <a:pt x="272384" y="4239780"/>
                  </a:lnTo>
                  <a:lnTo>
                    <a:pt x="253491" y="4236434"/>
                  </a:lnTo>
                  <a:lnTo>
                    <a:pt x="221556" y="4211606"/>
                  </a:lnTo>
                  <a:lnTo>
                    <a:pt x="9751" y="3729694"/>
                  </a:lnTo>
                  <a:lnTo>
                    <a:pt x="0" y="3682485"/>
                  </a:lnTo>
                  <a:lnTo>
                    <a:pt x="2437" y="3658125"/>
                  </a:lnTo>
                  <a:lnTo>
                    <a:pt x="209976" y="3173550"/>
                  </a:lnTo>
                  <a:lnTo>
                    <a:pt x="236304" y="3138144"/>
                  </a:lnTo>
                  <a:lnTo>
                    <a:pt x="272384" y="3125190"/>
                  </a:lnTo>
                  <a:lnTo>
                    <a:pt x="673702" y="3125190"/>
                  </a:lnTo>
                  <a:lnTo>
                    <a:pt x="724043" y="3153365"/>
                  </a:lnTo>
                  <a:lnTo>
                    <a:pt x="936336" y="3635276"/>
                  </a:lnTo>
                  <a:lnTo>
                    <a:pt x="946087" y="3682485"/>
                  </a:lnTo>
                  <a:lnTo>
                    <a:pt x="943649" y="3706846"/>
                  </a:lnTo>
                  <a:lnTo>
                    <a:pt x="735244" y="4191421"/>
                  </a:lnTo>
                  <a:lnTo>
                    <a:pt x="709348" y="4226827"/>
                  </a:lnTo>
                  <a:lnTo>
                    <a:pt x="673702" y="4239780"/>
                  </a:lnTo>
                  <a:close/>
                </a:path>
              </a:pathLst>
            </a:custGeom>
            <a:solidFill>
              <a:srgbClr val="7F7F7F">
                <a:alpha val="1490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" name="Google Shape;5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54890" y="1715881"/>
              <a:ext cx="3203509" cy="34262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52" name="Google Shape;52;p8"/>
          <p:cNvSpPr txBox="1"/>
          <p:nvPr>
            <p:ph type="title"/>
          </p:nvPr>
        </p:nvSpPr>
        <p:spPr>
          <a:xfrm>
            <a:off x="1674551" y="202022"/>
            <a:ext cx="8078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497D"/>
                </a:solidFill>
              </a:rPr>
              <a:t>SMART INDIA HACKATHON 2025</a:t>
            </a:r>
            <a:endParaRPr sz="4000"/>
          </a:p>
        </p:txBody>
      </p:sp>
      <p:sp>
        <p:nvSpPr>
          <p:cNvPr id="53" name="Google Shape;53;p8"/>
          <p:cNvSpPr txBox="1"/>
          <p:nvPr/>
        </p:nvSpPr>
        <p:spPr>
          <a:xfrm>
            <a:off x="608200" y="1226725"/>
            <a:ext cx="6411900" cy="48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748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TEAM DHRUVA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Problem Statement ID: SIH26001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Problem Statement Title: </a:t>
            </a:r>
            <a:r>
              <a:rPr b="1" lang="en-US" sz="2400">
                <a:solidFill>
                  <a:schemeClr val="dk1"/>
                </a:solidFill>
              </a:rPr>
              <a:t>AI-Based early warning and landslide Risk Monitoring System in NER 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Theme: Disaster Man</a:t>
            </a:r>
            <a:r>
              <a:rPr b="1" lang="en-US" sz="2400"/>
              <a:t>agement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PS Category- Software/Hardware: Soft</a:t>
            </a:r>
            <a:r>
              <a:rPr b="1" lang="en-US" sz="2400"/>
              <a:t>ware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1365" y="6297"/>
            <a:ext cx="2209120" cy="112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304168"/>
            <a:ext cx="1666875" cy="442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" name="Google Shape;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0363" y="1795400"/>
            <a:ext cx="5100638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" name="Google Shape;6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2288" y="1957325"/>
            <a:ext cx="4776787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" name="Google Shape;6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2288" y="4157600"/>
            <a:ext cx="4776787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" name="Google Shape;6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77063" y="4452875"/>
            <a:ext cx="4567237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-13804" y="6477000"/>
            <a:ext cx="1181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>
            <a:off x="2740818" y="190500"/>
            <a:ext cx="690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TEAM DHRUVA</a:t>
            </a:r>
            <a:endParaRPr/>
          </a:p>
        </p:txBody>
      </p:sp>
      <p:sp>
        <p:nvSpPr>
          <p:cNvPr id="67" name="Google Shape;67;p9"/>
          <p:cNvSpPr txBox="1"/>
          <p:nvPr/>
        </p:nvSpPr>
        <p:spPr>
          <a:xfrm>
            <a:off x="600100" y="439083"/>
            <a:ext cx="132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TEAM DHRUVA</a:t>
            </a:r>
            <a:endParaRPr/>
          </a:p>
        </p:txBody>
      </p:sp>
      <p:pic>
        <p:nvPicPr>
          <p:cNvPr descr="image.png" id="68" name="Google Shape;6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8625" y="117736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/>
          <p:nvPr/>
        </p:nvSpPr>
        <p:spPr>
          <a:xfrm>
            <a:off x="752475" y="1134500"/>
            <a:ext cx="7395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638175" y="1821260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1" name="Google Shape;71;p9"/>
          <p:cNvSpPr txBox="1"/>
          <p:nvPr/>
        </p:nvSpPr>
        <p:spPr>
          <a:xfrm>
            <a:off x="695325" y="1822213"/>
            <a:ext cx="5665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SLOPE-X Platform: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An AI-powered real-time slope intelligence system transforming static landslide maps into </a:t>
            </a:r>
            <a:r>
              <a:rPr b="1" i="0" lang="en-US" sz="12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6h–72h predictive warnings</a:t>
            </a: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2" name="Google Shape;72;p9"/>
          <p:cNvSpPr txBox="1"/>
          <p:nvPr/>
        </p:nvSpPr>
        <p:spPr>
          <a:xfrm>
            <a:off x="638175" y="2407940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3" name="Google Shape;73;p9"/>
          <p:cNvSpPr txBox="1"/>
          <p:nvPr/>
        </p:nvSpPr>
        <p:spPr>
          <a:xfrm>
            <a:off x="695325" y="2408893"/>
            <a:ext cx="5665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Physics-Informed 3D Digital Twin: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Continuously monitors pore-water pressure, soil saturation, and slope displacement for critical mountain terrain.</a:t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638175" y="2994621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5" name="Google Shape;75;p9"/>
          <p:cNvSpPr txBox="1"/>
          <p:nvPr/>
        </p:nvSpPr>
        <p:spPr>
          <a:xfrm>
            <a:off x="695325" y="2995573"/>
            <a:ext cx="56655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Multi-Sensor Fusion Engine: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Integrates Sentinel-1 InSAR radar, DEM elevation, IMD rainfall feeds, and ground-level IoT moisture sensors into one map.</a:t>
            </a: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638175" y="3807967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7" name="Google Shape;77;p9"/>
          <p:cNvSpPr txBox="1"/>
          <p:nvPr/>
        </p:nvSpPr>
        <p:spPr>
          <a:xfrm>
            <a:off x="695325" y="3808919"/>
            <a:ext cx="56655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GIS Command Dashboard: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Mapbox &amp; Next.js dark interface providing localized risk heatmaps, community evacuation routes, and automated siren triggers.</a:t>
            </a:r>
            <a:endParaRPr/>
          </a:p>
        </p:txBody>
      </p:sp>
      <p:sp>
        <p:nvSpPr>
          <p:cNvPr id="78" name="Google Shape;78;p9"/>
          <p:cNvSpPr txBox="1"/>
          <p:nvPr/>
        </p:nvSpPr>
        <p:spPr>
          <a:xfrm>
            <a:off x="638175" y="4621312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9" name="Google Shape;79;p9"/>
          <p:cNvSpPr txBox="1"/>
          <p:nvPr/>
        </p:nvSpPr>
        <p:spPr>
          <a:xfrm>
            <a:off x="695325" y="4622265"/>
            <a:ext cx="5665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Offline-First Resilience: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Utilizes PWA edge caching &amp; mesh synchronization to ensure full alert operations during network and power blackouts.</a:t>
            </a:r>
            <a:endParaRPr/>
          </a:p>
        </p:txBody>
      </p:sp>
      <p:sp>
        <p:nvSpPr>
          <p:cNvPr id="80" name="Google Shape;80;p9"/>
          <p:cNvSpPr txBox="1"/>
          <p:nvPr/>
        </p:nvSpPr>
        <p:spPr>
          <a:xfrm>
            <a:off x="638175" y="5207993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81" name="Google Shape;81;p9"/>
          <p:cNvSpPr txBox="1"/>
          <p:nvPr/>
        </p:nvSpPr>
        <p:spPr>
          <a:xfrm>
            <a:off x="695325" y="5208945"/>
            <a:ext cx="5665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Proactive Impact: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Shifts regional disaster management from </a:t>
            </a:r>
            <a:r>
              <a:rPr b="1" i="0" lang="en-US" sz="12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reactive flood/landslide response → data-driven preventive action</a:t>
            </a:r>
            <a:r>
              <a:rPr b="0" i="0" lang="en-US" sz="12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image.png" id="82" name="Google Shape;8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72288" y="2366900"/>
            <a:ext cx="2340768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" name="Google Shape;8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08307" y="2366900"/>
            <a:ext cx="2340768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" name="Google Shape;8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72288" y="3252725"/>
            <a:ext cx="2340768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08307" y="3252725"/>
            <a:ext cx="2340768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6977063" y="4262375"/>
            <a:ext cx="45672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3B70"/>
                </a:solidFill>
                <a:latin typeface="Arial"/>
                <a:ea typeface="Arial"/>
                <a:cs typeface="Arial"/>
                <a:sym typeface="Arial"/>
              </a:rPr>
              <a:t>COMMAND CENTER &amp; EARLY WARNING FLOW</a:t>
            </a:r>
            <a:endParaRPr/>
          </a:p>
        </p:txBody>
      </p:sp>
      <p:pic>
        <p:nvPicPr>
          <p:cNvPr descr="image.png" id="87" name="Google Shape;8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37822" y="241046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 txBox="1"/>
          <p:nvPr/>
        </p:nvSpPr>
        <p:spPr>
          <a:xfrm>
            <a:off x="7515523" y="2684784"/>
            <a:ext cx="105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Multi-Source Feeds</a:t>
            </a:r>
            <a:endParaRPr/>
          </a:p>
        </p:txBody>
      </p:sp>
      <p:sp>
        <p:nvSpPr>
          <p:cNvPr id="89" name="Google Shape;89;p9"/>
          <p:cNvSpPr txBox="1"/>
          <p:nvPr/>
        </p:nvSpPr>
        <p:spPr>
          <a:xfrm>
            <a:off x="7365951" y="2886012"/>
            <a:ext cx="13533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InSAR, IMD Rain &amp; IoT Sensors</a:t>
            </a:r>
            <a:endParaRPr/>
          </a:p>
        </p:txBody>
      </p:sp>
      <p:pic>
        <p:nvPicPr>
          <p:cNvPr descr="image.png" id="90" name="Google Shape;90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73916" y="241059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 txBox="1"/>
          <p:nvPr/>
        </p:nvSpPr>
        <p:spPr>
          <a:xfrm>
            <a:off x="9989189" y="2682437"/>
            <a:ext cx="911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3D Slope Twin</a:t>
            </a:r>
            <a:endParaRPr/>
          </a:p>
        </p:txBody>
      </p:sp>
      <p:sp>
        <p:nvSpPr>
          <p:cNvPr id="92" name="Google Shape;92;p9"/>
          <p:cNvSpPr txBox="1"/>
          <p:nvPr/>
        </p:nvSpPr>
        <p:spPr>
          <a:xfrm>
            <a:off x="9804649" y="2890539"/>
            <a:ext cx="13482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Real-Time Pore Water Pressure</a:t>
            </a:r>
            <a:endParaRPr/>
          </a:p>
        </p:txBody>
      </p:sp>
      <p:pic>
        <p:nvPicPr>
          <p:cNvPr descr="image.png" id="93" name="Google Shape;93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37898" y="33575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 txBox="1"/>
          <p:nvPr/>
        </p:nvSpPr>
        <p:spPr>
          <a:xfrm>
            <a:off x="7695605" y="3624200"/>
            <a:ext cx="687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Ensemble AI</a:t>
            </a:r>
            <a:endParaRPr/>
          </a:p>
        </p:txBody>
      </p:sp>
      <p:sp>
        <p:nvSpPr>
          <p:cNvPr id="95" name="Google Shape;95;p9"/>
          <p:cNvSpPr txBox="1"/>
          <p:nvPr/>
        </p:nvSpPr>
        <p:spPr>
          <a:xfrm>
            <a:off x="7417654" y="3765932"/>
            <a:ext cx="1222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XGBoost &amp; LSTM Lead Time</a:t>
            </a:r>
            <a:endParaRPr/>
          </a:p>
        </p:txBody>
      </p:sp>
      <p:pic>
        <p:nvPicPr>
          <p:cNvPr descr="image.png" id="96" name="Google Shape;96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73916" y="33575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 txBox="1"/>
          <p:nvPr/>
        </p:nvSpPr>
        <p:spPr>
          <a:xfrm>
            <a:off x="9983242" y="3624200"/>
            <a:ext cx="99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Offline Mesh Sync</a:t>
            </a:r>
            <a:endParaRPr/>
          </a:p>
        </p:txBody>
      </p:sp>
      <p:sp>
        <p:nvSpPr>
          <p:cNvPr id="98" name="Google Shape;98;p9"/>
          <p:cNvSpPr txBox="1"/>
          <p:nvPr/>
        </p:nvSpPr>
        <p:spPr>
          <a:xfrm>
            <a:off x="9975504" y="3765932"/>
            <a:ext cx="10500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PWA Disaster Resilience</a:t>
            </a:r>
            <a:endParaRPr/>
          </a:p>
        </p:txBody>
      </p:sp>
      <p:pic>
        <p:nvPicPr>
          <p:cNvPr descr="image.png" id="99" name="Google Shape;99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581305" y="4757974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/>
        </p:nvSpPr>
        <p:spPr>
          <a:xfrm>
            <a:off x="7390507" y="5042592"/>
            <a:ext cx="6102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Risk Engine</a:t>
            </a:r>
            <a:endParaRPr/>
          </a:p>
        </p:txBody>
      </p:sp>
      <p:pic>
        <p:nvPicPr>
          <p:cNvPr descr="image.png" id="101" name="Google Shape;101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103518" y="476243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 txBox="1"/>
          <p:nvPr/>
        </p:nvSpPr>
        <p:spPr>
          <a:xfrm>
            <a:off x="8875811" y="5039234"/>
            <a:ext cx="769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Live GIS Map</a:t>
            </a:r>
            <a:endParaRPr/>
          </a:p>
        </p:txBody>
      </p:sp>
      <p:pic>
        <p:nvPicPr>
          <p:cNvPr descr="image.png" id="103" name="Google Shape;103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752609" y="47672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 txBox="1"/>
          <p:nvPr/>
        </p:nvSpPr>
        <p:spPr>
          <a:xfrm>
            <a:off x="10542985" y="5048745"/>
            <a:ext cx="609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Early Alerts</a:t>
            </a:r>
            <a:endParaRPr/>
          </a:p>
        </p:txBody>
      </p:sp>
      <p:pic>
        <p:nvPicPr>
          <p:cNvPr descr="image.png" id="105" name="Google Shape;105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364885" y="486245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061080" y="486245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213060" y="66963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/>
        </p:nvSpPr>
        <p:spPr>
          <a:xfrm>
            <a:off x="507698" y="1063825"/>
            <a:ext cx="10976100" cy="50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2400"/>
              <a:buFont typeface="Arial"/>
              <a:buChar char="❖"/>
            </a:pPr>
            <a:r>
              <a:rPr b="1" lang="en-US" sz="2400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What is the problem?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/>
              <a:t>1. Difficulty in identifying high-risk landslide/flood zones in advance</a:t>
            </a:r>
            <a:endParaRPr sz="1800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/>
              <a:t>2. Lack of localized, real-time risk information</a:t>
            </a:r>
            <a:endParaRPr sz="1800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/>
              <a:t>3. Delayed or non-actionable early warnings</a:t>
            </a:r>
            <a:endParaRPr sz="1800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/>
              <a:t>4. Difficulty prioritizing the most critical locations for response</a:t>
            </a:r>
            <a:endParaRPr sz="1800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/>
              <a:t>5. Roads and evacuation routes becoming unsafe or blocked</a:t>
            </a:r>
            <a:endParaRPr sz="1800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/>
              <a:t>6. Fragmented disaster information from multiple sources</a:t>
            </a:r>
            <a:endParaRPr sz="1800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/>
              <a:t>7. Communication/network failure during disasters</a:t>
            </a:r>
            <a:endParaRPr sz="1800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800"/>
              <a:t>8. Rapidly changing ground and environmental conditions</a:t>
            </a:r>
            <a:endParaRPr sz="1800"/>
          </a:p>
        </p:txBody>
      </p:sp>
      <p:pic>
        <p:nvPicPr>
          <p:cNvPr id="113" name="Google Shape;1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5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0"/>
          <p:cNvSpPr txBox="1"/>
          <p:nvPr>
            <p:ph idx="12" type="sldNum"/>
          </p:nvPr>
        </p:nvSpPr>
        <p:spPr>
          <a:xfrm>
            <a:off x="15180969" y="8532353"/>
            <a:ext cx="2160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.png" id="115" name="Google Shape;1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04168"/>
            <a:ext cx="1666875" cy="442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/>
          <p:nvPr/>
        </p:nvSpPr>
        <p:spPr>
          <a:xfrm>
            <a:off x="600100" y="439083"/>
            <a:ext cx="132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TEAM DHRUVA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0375" y="1217085"/>
            <a:ext cx="5100626" cy="5026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2300" y="1405995"/>
            <a:ext cx="4776775" cy="1358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2300" y="3677225"/>
            <a:ext cx="4776787" cy="1475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4321" y="1482316"/>
            <a:ext cx="2692747" cy="25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0" y="6477000"/>
            <a:ext cx="1181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2740818" y="209550"/>
            <a:ext cx="6900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8" name="Google Shape;128;p11"/>
          <p:cNvSpPr txBox="1"/>
          <p:nvPr/>
        </p:nvSpPr>
        <p:spPr>
          <a:xfrm>
            <a:off x="600075" y="177153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657225" y="1771054"/>
            <a:ext cx="5570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Integrates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Sentinel-1 InSAR satellite, DEM terrain, IMD rainfall feeds &amp; IoT sensors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into a unified PostGIS spatial datastore.</a:t>
            </a:r>
            <a:endParaRPr/>
          </a:p>
        </p:txBody>
      </p:sp>
      <p:sp>
        <p:nvSpPr>
          <p:cNvPr id="130" name="Google Shape;130;p11"/>
          <p:cNvSpPr txBox="1"/>
          <p:nvPr/>
        </p:nvSpPr>
        <p:spPr>
          <a:xfrm>
            <a:off x="600075" y="2421016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1" name="Google Shape;131;p11"/>
          <p:cNvSpPr txBox="1"/>
          <p:nvPr/>
        </p:nvSpPr>
        <p:spPr>
          <a:xfrm>
            <a:off x="657225" y="2420540"/>
            <a:ext cx="5570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Constructs a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physics-informed 3D slope digital twin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to compute continuous pore-water pressure and shear strength in real time.</a:t>
            </a:r>
            <a:endParaRPr/>
          </a:p>
        </p:txBody>
      </p:sp>
      <p:sp>
        <p:nvSpPr>
          <p:cNvPr id="132" name="Google Shape;132;p11"/>
          <p:cNvSpPr txBox="1"/>
          <p:nvPr/>
        </p:nvSpPr>
        <p:spPr>
          <a:xfrm>
            <a:off x="600075" y="307050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3" name="Google Shape;133;p11"/>
          <p:cNvSpPr txBox="1"/>
          <p:nvPr/>
        </p:nvSpPr>
        <p:spPr>
          <a:xfrm>
            <a:off x="657225" y="3070026"/>
            <a:ext cx="5570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Utilizes an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ensemble AI engine (XGBoost + LSTM)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for dynamic slope susceptibility scoring and 6h–72h predictive warnings.</a:t>
            </a:r>
            <a:endParaRPr/>
          </a:p>
        </p:txBody>
      </p:sp>
      <p:sp>
        <p:nvSpPr>
          <p:cNvPr id="134" name="Google Shape;134;p11"/>
          <p:cNvSpPr txBox="1"/>
          <p:nvPr/>
        </p:nvSpPr>
        <p:spPr>
          <a:xfrm>
            <a:off x="600075" y="3719988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5" name="Google Shape;135;p11"/>
          <p:cNvSpPr txBox="1"/>
          <p:nvPr/>
        </p:nvSpPr>
        <p:spPr>
          <a:xfrm>
            <a:off x="657225" y="3719512"/>
            <a:ext cx="5570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Delivers a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Next.js &amp; Mapbox GIS command center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displaying live hazard heatmaps, evacuation routes &amp; automated sirens.</a:t>
            </a:r>
            <a:endParaRPr/>
          </a:p>
        </p:txBody>
      </p:sp>
      <p:sp>
        <p:nvSpPr>
          <p:cNvPr id="136" name="Google Shape;136;p11"/>
          <p:cNvSpPr txBox="1"/>
          <p:nvPr/>
        </p:nvSpPr>
        <p:spPr>
          <a:xfrm>
            <a:off x="600075" y="4369474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7" name="Google Shape;137;p11"/>
          <p:cNvSpPr txBox="1"/>
          <p:nvPr/>
        </p:nvSpPr>
        <p:spPr>
          <a:xfrm>
            <a:off x="657225" y="4368998"/>
            <a:ext cx="5570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Provides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offline-first mesh synchronization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and PWA caching to maintain operations during network and power blackouts.</a:t>
            </a:r>
            <a:endParaRPr/>
          </a:p>
        </p:txBody>
      </p:sp>
      <p:sp>
        <p:nvSpPr>
          <p:cNvPr id="138" name="Google Shape;138;p11"/>
          <p:cNvSpPr txBox="1"/>
          <p:nvPr/>
        </p:nvSpPr>
        <p:spPr>
          <a:xfrm>
            <a:off x="600075" y="501896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657225" y="5018484"/>
            <a:ext cx="5570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Transitions regional disaster management from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reactive rescue → proactive, data-driven early intervention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image.png" id="140" name="Google Shape;14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08293" y="2866826"/>
            <a:ext cx="104775" cy="129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12930" y="2984512"/>
            <a:ext cx="209550" cy="204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08288" y="3398870"/>
            <a:ext cx="104775" cy="2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6977075" y="3779285"/>
            <a:ext cx="45672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3B70"/>
                </a:solidFill>
                <a:latin typeface="Arial"/>
                <a:ea typeface="Arial"/>
                <a:cs typeface="Arial"/>
                <a:sym typeface="Arial"/>
              </a:rPr>
              <a:t>LIVE RISK MAP &amp; GIS COMMAND DASHBOARD</a:t>
            </a:r>
            <a:endParaRPr/>
          </a:p>
        </p:txBody>
      </p:sp>
      <p:pic>
        <p:nvPicPr>
          <p:cNvPr descr="image.png" id="144" name="Google Shape;144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77088" y="4863428"/>
            <a:ext cx="4567237" cy="176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08325" y="5315396"/>
            <a:ext cx="104775" cy="2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96125" y="1940265"/>
            <a:ext cx="1075125" cy="754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47450" y="1956749"/>
            <a:ext cx="1075125" cy="7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98775" y="1956750"/>
            <a:ext cx="1075150" cy="7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450124" y="1940266"/>
            <a:ext cx="1075125" cy="7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 txBox="1"/>
          <p:nvPr/>
        </p:nvSpPr>
        <p:spPr>
          <a:xfrm>
            <a:off x="7702055" y="2877685"/>
            <a:ext cx="3117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SLOPEX ENSEMBLE AI ENGINE</a:t>
            </a:r>
            <a:endParaRPr/>
          </a:p>
        </p:txBody>
      </p:sp>
      <p:sp>
        <p:nvSpPr>
          <p:cNvPr id="151" name="Google Shape;151;p11"/>
          <p:cNvSpPr txBox="1"/>
          <p:nvPr/>
        </p:nvSpPr>
        <p:spPr>
          <a:xfrm>
            <a:off x="7702055" y="3092332"/>
            <a:ext cx="3117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XGBoost Risk Indexing • 3D Digital Twin • 6h–72h LSTM Prediction</a:t>
            </a:r>
            <a:endParaRPr/>
          </a:p>
        </p:txBody>
      </p:sp>
      <p:pic>
        <p:nvPicPr>
          <p:cNvPr descr="image.png" id="152" name="Google Shape;152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77063" y="5778397"/>
            <a:ext cx="152400" cy="14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203531" y="5835825"/>
            <a:ext cx="114300" cy="129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447967" y="1732825"/>
            <a:ext cx="171450" cy="167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599277" y="1761292"/>
            <a:ext cx="171450" cy="167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750573" y="1761292"/>
            <a:ext cx="171450" cy="167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901882" y="1761292"/>
            <a:ext cx="171450" cy="167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053275" y="4920494"/>
            <a:ext cx="66675" cy="88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859156" y="4920494"/>
            <a:ext cx="95250" cy="88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884855" y="4920494"/>
            <a:ext cx="95250" cy="8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/>
        </p:nvSpPr>
        <p:spPr>
          <a:xfrm>
            <a:off x="7205663" y="5714637"/>
            <a:ext cx="9798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7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EARLY ACTION</a:t>
            </a:r>
            <a:endParaRPr/>
          </a:p>
        </p:txBody>
      </p:sp>
      <p:sp>
        <p:nvSpPr>
          <p:cNvPr id="162" name="Google Shape;162;p11"/>
          <p:cNvSpPr txBox="1"/>
          <p:nvPr/>
        </p:nvSpPr>
        <p:spPr>
          <a:xfrm>
            <a:off x="7205663" y="5825150"/>
            <a:ext cx="97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Timely Warnings &amp; Sirens</a:t>
            </a:r>
            <a:endParaRPr/>
          </a:p>
        </p:txBody>
      </p:sp>
      <p:sp>
        <p:nvSpPr>
          <p:cNvPr id="163" name="Google Shape;163;p11"/>
          <p:cNvSpPr txBox="1"/>
          <p:nvPr/>
        </p:nvSpPr>
        <p:spPr>
          <a:xfrm>
            <a:off x="9575006" y="5714637"/>
            <a:ext cx="8148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7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OFFLINE MESH</a:t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9575006" y="5825150"/>
            <a:ext cx="8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Sync During Outages</a:t>
            </a:r>
            <a:endParaRPr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114739" y="97325"/>
            <a:ext cx="2209119" cy="1093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28625" y="304168"/>
            <a:ext cx="1666875" cy="4429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1"/>
          <p:cNvSpPr txBox="1"/>
          <p:nvPr/>
        </p:nvSpPr>
        <p:spPr>
          <a:xfrm>
            <a:off x="600100" y="439083"/>
            <a:ext cx="132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TEAM DHRUVA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2" name="Google Shape;172;p12"/>
          <p:cNvSpPr txBox="1"/>
          <p:nvPr>
            <p:ph type="title"/>
          </p:nvPr>
        </p:nvSpPr>
        <p:spPr>
          <a:xfrm>
            <a:off x="2621929" y="218566"/>
            <a:ext cx="69481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62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FEASIBILITY AND VIABILITY</a:t>
            </a:r>
            <a:endParaRPr/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5" y="57096"/>
            <a:ext cx="2209120" cy="11228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p12" title="Feasability and viability.png"/>
          <p:cNvPicPr preferRelativeResize="0"/>
          <p:nvPr/>
        </p:nvPicPr>
        <p:blipFill rotWithShape="1">
          <a:blip r:embed="rId4">
            <a:alphaModFix/>
          </a:blip>
          <a:srcRect b="0" l="2284" r="2569" t="7655"/>
          <a:stretch/>
        </p:blipFill>
        <p:spPr>
          <a:xfrm>
            <a:off x="278525" y="1126900"/>
            <a:ext cx="11600801" cy="5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04168"/>
            <a:ext cx="1666875" cy="442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 txBox="1"/>
          <p:nvPr/>
        </p:nvSpPr>
        <p:spPr>
          <a:xfrm>
            <a:off x="600100" y="439083"/>
            <a:ext cx="132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TEAM DHRUVA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82" name="Google Shape;182;p13"/>
          <p:cNvSpPr txBox="1"/>
          <p:nvPr>
            <p:ph type="title"/>
          </p:nvPr>
        </p:nvSpPr>
        <p:spPr>
          <a:xfrm>
            <a:off x="2554454" y="161466"/>
            <a:ext cx="6948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401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AND BENEFITS</a:t>
            </a:r>
            <a:endParaRPr/>
          </a:p>
        </p:txBody>
      </p:sp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3890" y="-4"/>
            <a:ext cx="2209120" cy="112286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11318252" y="6342165"/>
            <a:ext cx="1620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0" y="1368575"/>
            <a:ext cx="1219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0" y="1368575"/>
            <a:ext cx="70851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Combines </a:t>
            </a:r>
            <a:r>
              <a:rPr b="1" lang="en-US" sz="2200">
                <a:solidFill>
                  <a:schemeClr val="dk1"/>
                </a:solidFill>
              </a:rPr>
              <a:t>IMD, CWC, GSI &amp; NDMA/SACHET</a:t>
            </a:r>
            <a:r>
              <a:rPr lang="en-US" sz="2200">
                <a:solidFill>
                  <a:schemeClr val="dk1"/>
                </a:solidFill>
              </a:rPr>
              <a:t> information into one decision-support platform.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Converts multiple data sources into </a:t>
            </a:r>
            <a:r>
              <a:rPr b="1" lang="en-US" sz="2200">
                <a:solidFill>
                  <a:schemeClr val="dk1"/>
                </a:solidFill>
              </a:rPr>
              <a:t>location-specific flood &amp; landslide risk insights</a:t>
            </a:r>
            <a:r>
              <a:rPr lang="en-US" sz="2200">
                <a:solidFill>
                  <a:schemeClr val="dk1"/>
                </a:solidFill>
              </a:rPr>
              <a:t>.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Integrates </a:t>
            </a:r>
            <a:r>
              <a:rPr b="1" lang="en-US" sz="2200">
                <a:solidFill>
                  <a:schemeClr val="dk1"/>
                </a:solidFill>
              </a:rPr>
              <a:t>real-time citizen/field reports</a:t>
            </a:r>
            <a:r>
              <a:rPr lang="en-US" sz="2200">
                <a:solidFill>
                  <a:schemeClr val="dk1"/>
                </a:solidFill>
              </a:rPr>
              <a:t> to capture changing on-ground conditions.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Helps authorities identify </a:t>
            </a:r>
            <a:r>
              <a:rPr b="1" lang="en-US" sz="2200">
                <a:solidFill>
                  <a:schemeClr val="dk1"/>
                </a:solidFill>
              </a:rPr>
              <a:t>high-risk zones and critical incidents first</a:t>
            </a:r>
            <a:r>
              <a:rPr lang="en-US" sz="2200">
                <a:solidFill>
                  <a:schemeClr val="dk1"/>
                </a:solidFill>
              </a:rPr>
              <a:t> for faster action.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Enables </a:t>
            </a:r>
            <a:r>
              <a:rPr b="1" lang="en-US" sz="2200">
                <a:solidFill>
                  <a:schemeClr val="dk1"/>
                </a:solidFill>
              </a:rPr>
              <a:t>offline access and local data capture</a:t>
            </a:r>
            <a:r>
              <a:rPr lang="en-US" sz="2200">
                <a:solidFill>
                  <a:schemeClr val="dk1"/>
                </a:solidFill>
              </a:rPr>
              <a:t>, supporting communication during connectivity failures.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Moves disaster management from </a:t>
            </a:r>
            <a:r>
              <a:rPr b="1" lang="en-US" sz="2200">
                <a:solidFill>
                  <a:schemeClr val="dk1"/>
                </a:solidFill>
              </a:rPr>
              <a:t>reactive response → proactive, data-driven action</a:t>
            </a:r>
            <a:r>
              <a:rPr lang="en-US" sz="2200">
                <a:solidFill>
                  <a:schemeClr val="dk1"/>
                </a:solidFill>
              </a:rPr>
              <a:t>. 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87" name="Google Shape;1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175" y="1069775"/>
            <a:ext cx="5039351" cy="517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04168"/>
            <a:ext cx="1666875" cy="442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3"/>
          <p:cNvSpPr txBox="1"/>
          <p:nvPr/>
        </p:nvSpPr>
        <p:spPr>
          <a:xfrm>
            <a:off x="600100" y="439083"/>
            <a:ext cx="132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TEAM DHRUVA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4" name="Google Shape;194;p14"/>
          <p:cNvSpPr txBox="1"/>
          <p:nvPr>
            <p:ph type="title"/>
          </p:nvPr>
        </p:nvSpPr>
        <p:spPr>
          <a:xfrm>
            <a:off x="2621929" y="218566"/>
            <a:ext cx="69481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AND REFERENCES</a:t>
            </a:r>
            <a:endParaRPr/>
          </a:p>
        </p:txBody>
      </p:sp>
      <p:pic>
        <p:nvPicPr>
          <p:cNvPr id="195" name="Google Shape;1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5" y="57096"/>
            <a:ext cx="2209120" cy="11228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4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520625" y="1179975"/>
            <a:ext cx="10865100" cy="4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>
                <a:solidFill>
                  <a:schemeClr val="dk1"/>
                </a:solidFill>
              </a:rPr>
            </a:br>
            <a:br>
              <a:rPr lang="en-US" sz="2800">
                <a:solidFill>
                  <a:schemeClr val="dk1"/>
                </a:solidFill>
              </a:rPr>
            </a:br>
            <a:br>
              <a:rPr lang="en-US" sz="2800">
                <a:solidFill>
                  <a:schemeClr val="dk1"/>
                </a:solidFill>
              </a:rPr>
            </a:br>
            <a:br>
              <a:rPr lang="en-US" sz="2800">
                <a:solidFill>
                  <a:schemeClr val="dk1"/>
                </a:solidFill>
              </a:rPr>
            </a:br>
            <a:br>
              <a:rPr lang="en-US" sz="2800">
                <a:solidFill>
                  <a:schemeClr val="dk1"/>
                </a:solidFill>
              </a:rPr>
            </a:br>
            <a:br>
              <a:rPr lang="en-US" sz="2800">
                <a:solidFill>
                  <a:schemeClr val="dk1"/>
                </a:solidFill>
              </a:rPr>
            </a:b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740400" y="1293450"/>
            <a:ext cx="107112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4"/>
              </a:rPr>
              <a:t>ISRO–NRSC (2023) — Landslide Atlas of India: Mapping, Monitoring and Advance Techniques Using Space-Based Inputs</a:t>
            </a:r>
            <a:endParaRPr sz="1800"/>
          </a:p>
        </p:txBody>
      </p:sp>
      <p:sp>
        <p:nvSpPr>
          <p:cNvPr id="199" name="Google Shape;199;p14"/>
          <p:cNvSpPr txBox="1"/>
          <p:nvPr/>
        </p:nvSpPr>
        <p:spPr>
          <a:xfrm>
            <a:off x="740408" y="1980825"/>
            <a:ext cx="10711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5"/>
              </a:rPr>
              <a:t>NRSC–ISRO &amp; ASDMA (2025) — Flood Hazard Zonation Atlas of Assam: Using Multi-Sensor Satellite Data (1998–2023)</a:t>
            </a:r>
            <a:endParaRPr sz="1800"/>
          </a:p>
        </p:txBody>
      </p:sp>
      <p:sp>
        <p:nvSpPr>
          <p:cNvPr id="200" name="Google Shape;200;p14"/>
          <p:cNvSpPr txBox="1"/>
          <p:nvPr/>
        </p:nvSpPr>
        <p:spPr>
          <a:xfrm>
            <a:off x="748925" y="2460900"/>
            <a:ext cx="10408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6"/>
              </a:rPr>
              <a:t>Sharma, M. &amp; Laskar, S. (2025) — An IoT Based Landslide Monitoring and Early Warning System for Guwahati City</a:t>
            </a:r>
            <a:endParaRPr sz="1500"/>
          </a:p>
        </p:txBody>
      </p:sp>
      <p:sp>
        <p:nvSpPr>
          <p:cNvPr id="201" name="Google Shape;201;p14"/>
          <p:cNvSpPr txBox="1"/>
          <p:nvPr/>
        </p:nvSpPr>
        <p:spPr>
          <a:xfrm>
            <a:off x="740400" y="3000725"/>
            <a:ext cx="10580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7"/>
              </a:rPr>
              <a:t>Ramesh, M. V. et al. (2022/2023) — Landslide Early Warning Systems: Requirements and Solutions for Disaster Risk Reduction—India</a:t>
            </a:r>
            <a:endParaRPr sz="1500"/>
          </a:p>
        </p:txBody>
      </p:sp>
      <p:sp>
        <p:nvSpPr>
          <p:cNvPr id="202" name="Google Shape;202;p14"/>
          <p:cNvSpPr txBox="1"/>
          <p:nvPr/>
        </p:nvSpPr>
        <p:spPr>
          <a:xfrm>
            <a:off x="748925" y="3535650"/>
            <a:ext cx="104085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8"/>
              </a:rPr>
              <a:t>Geological Survey of India — National Landslide Forecasting Centre (NLFC)</a:t>
            </a:r>
            <a:endParaRPr sz="1500"/>
          </a:p>
        </p:txBody>
      </p:sp>
      <p:pic>
        <p:nvPicPr>
          <p:cNvPr descr="image.png" id="203" name="Google Shape;2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8625" y="304168"/>
            <a:ext cx="1666875" cy="442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/>
        </p:nvSpPr>
        <p:spPr>
          <a:xfrm>
            <a:off x="600100" y="439083"/>
            <a:ext cx="132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TEAM DHRUVA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09" name="Google Shape;209;p15"/>
          <p:cNvSpPr txBox="1"/>
          <p:nvPr>
            <p:ph type="title"/>
          </p:nvPr>
        </p:nvSpPr>
        <p:spPr>
          <a:xfrm>
            <a:off x="2621929" y="218566"/>
            <a:ext cx="69481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4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 MEMBERS</a:t>
            </a:r>
            <a:endParaRPr/>
          </a:p>
        </p:txBody>
      </p:sp>
      <p:graphicFrame>
        <p:nvGraphicFramePr>
          <p:cNvPr id="210" name="Google Shape;210;p15"/>
          <p:cNvGraphicFramePr/>
          <p:nvPr/>
        </p:nvGraphicFramePr>
        <p:xfrm>
          <a:off x="192993" y="13830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{08104F25-3B5F-464F-AA89-1FCFC8B70155}</a:tableStyleId>
              </a:tblPr>
              <a:tblGrid>
                <a:gridCol w="924550"/>
                <a:gridCol w="1335400"/>
                <a:gridCol w="1322075"/>
                <a:gridCol w="1275725"/>
                <a:gridCol w="1028075"/>
                <a:gridCol w="889000"/>
                <a:gridCol w="1138550"/>
                <a:gridCol w="2012950"/>
                <a:gridCol w="18624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17830" marR="0" rtl="0" algn="l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Reg. No.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2715" marR="0" rtl="0" algn="l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of Study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3990" marR="0" rtl="0" algn="l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Semester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4965" marR="0" rtl="0" algn="l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Gender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16585" marR="0" rtl="0" algn="l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no.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Leader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8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Deven Jamaria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RA2511019010086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Aerospace</a:t>
                      </a:r>
                      <a:b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dj3601@srmist.edu.in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9904611148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</a:tr>
              <a:tr h="462275">
                <a:tc>
                  <a:txBody>
                    <a:bodyPr/>
                    <a:lstStyle/>
                    <a:p>
                      <a:pPr indent="0" lvl="0" marL="66675" marR="34925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Member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 Agrawal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RA2511019010099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Aerospace</a:t>
                      </a:r>
                      <a:b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oa7804@srmist.edu.in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8085318609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447050">
                <a:tc>
                  <a:txBody>
                    <a:bodyPr/>
                    <a:lstStyle/>
                    <a:p>
                      <a:pPr indent="0" lvl="0" marL="66675" marR="34925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Member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Paarth Mukherjee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RA2511019010082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Aerospace</a:t>
                      </a:r>
                      <a:b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pm5949@srmist.edu.in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6385446089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66675" marR="34925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Member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Vijeta Sargam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RA2511030010079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Networking and Communication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Female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vs2991@srmist.edu.in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9693536234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61350">
                <a:tc>
                  <a:txBody>
                    <a:bodyPr/>
                    <a:lstStyle/>
                    <a:p>
                      <a:pPr indent="0" lvl="0" marL="66675" marR="34925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Member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Avaneesh Chandrashekhar Shettigar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RA2511019010119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Aerospace Engineering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as7591@srmist.edu.in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9380343795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</a:tr>
              <a:tr h="618500">
                <a:tc>
                  <a:txBody>
                    <a:bodyPr/>
                    <a:lstStyle/>
                    <a:p>
                      <a:pPr indent="0" lvl="0" marL="66675" marR="34925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Member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87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Prithviraj Ketkale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RA2511018010060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Mechatronics engineering (Core)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pk4770@srmist.edu.in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9021792778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686425">
                <a:tc>
                  <a:txBody>
                    <a:bodyPr/>
                    <a:lstStyle/>
                    <a:p>
                      <a:pPr indent="0" lvl="0" marL="66675" marR="116205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Faculty Mentor (Mandatory)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Dr. KS Vignesh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Associate Professor Mechanical Engineering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vigneshk1@srmist.edu.in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96008 80411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7E7"/>
                    </a:solidFill>
                  </a:tcPr>
                </a:tc>
              </a:tr>
              <a:tr h="686425">
                <a:tc>
                  <a:txBody>
                    <a:bodyPr/>
                    <a:lstStyle/>
                    <a:p>
                      <a:pPr indent="0" lvl="0" marL="66675" marR="116205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Industry Mentor (Mandatory)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Dr.Manikanda Bharathi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ceo@aquaforgerobotics.com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89402 95211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</a:tbl>
          </a:graphicData>
        </a:graphic>
      </p:graphicFrame>
      <p:pic>
        <p:nvPicPr>
          <p:cNvPr id="211" name="Google Shape;2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0" y="57096"/>
            <a:ext cx="2220685" cy="112874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5"/>
          <p:cNvSpPr txBox="1"/>
          <p:nvPr>
            <p:ph idx="12" type="sldNum"/>
          </p:nvPr>
        </p:nvSpPr>
        <p:spPr>
          <a:xfrm>
            <a:off x="11385727" y="6399265"/>
            <a:ext cx="161925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.png" id="213" name="Google Shape;2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04168"/>
            <a:ext cx="1666875" cy="442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5"/>
          <p:cNvSpPr txBox="1"/>
          <p:nvPr/>
        </p:nvSpPr>
        <p:spPr>
          <a:xfrm>
            <a:off x="600100" y="439083"/>
            <a:ext cx="132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TEAM DHRUVA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